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72" r:id="rId14"/>
    <p:sldId id="268" r:id="rId15"/>
    <p:sldId id="269" r:id="rId16"/>
  </p:sldIdLst>
  <p:sldSz cx="12192000" cy="6858000"/>
  <p:notesSz cx="6858000" cy="9144000"/>
  <p:embeddedFontLst>
    <p:embeddedFont>
      <p:font typeface="Arial Black" panose="020B0A04020102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25hxemT1rz/Mgl1l8ywcOhAa8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548564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6548564fb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86548564fb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6548564f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6548564fb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86548564fb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6548564f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6548564fb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86548564fb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6200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175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3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13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13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3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13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 Black"/>
              <a:buNone/>
              <a:defRPr sz="7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 Blac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15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3" name="Google Shape;43;p15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5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15"/>
          <p:cNvSpPr txBox="1">
            <a:spLocks noGrp="1"/>
          </p:cNvSpPr>
          <p:nvPr>
            <p:ph type="sldNum" idx="12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1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2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689C9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3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689C9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4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 Blac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2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44696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2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9" name="Google Shape;79;p2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 Blac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DDD8D8"/>
          </a:solidFill>
          <a:ln>
            <a:noFill/>
          </a:ln>
        </p:spPr>
      </p:sp>
      <p:sp>
        <p:nvSpPr>
          <p:cNvPr id="86" name="Google Shape;86;p21"/>
          <p:cNvSpPr txBox="1">
            <a:spLocks noGrp="1"/>
          </p:cNvSpPr>
          <p:nvPr>
            <p:ph type="body" idx="1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44696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2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9" name="Google Shape;89;p2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21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  <a:defRPr sz="4800" b="0" i="0" u="none" strike="noStrike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89C9B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4" name="Google Shape;14;p1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1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1582846" y="1576613"/>
            <a:ext cx="1099580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 Black"/>
              <a:buNone/>
            </a:pPr>
            <a:r>
              <a:rPr lang="en-US"/>
              <a:t>IoMT: Internet of Medical Things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subTitle" idx="1"/>
          </p:nvPr>
        </p:nvSpPr>
        <p:spPr>
          <a:xfrm>
            <a:off x="1870058" y="4471136"/>
            <a:ext cx="2765202" cy="184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 b="1"/>
              <a:t>Team AJAS (39)</a:t>
            </a:r>
            <a:br>
              <a:rPr lang="en-US" sz="2000"/>
            </a:br>
            <a:r>
              <a:rPr lang="en-US" sz="2000" b="1"/>
              <a:t>A</a:t>
            </a:r>
            <a:r>
              <a:rPr lang="en-US" sz="2000"/>
              <a:t>akarsh Mishra</a:t>
            </a:r>
            <a:br>
              <a:rPr lang="en-US" sz="2000"/>
            </a:br>
            <a:r>
              <a:rPr lang="en-US" sz="2000" b="1"/>
              <a:t>J</a:t>
            </a:r>
            <a:r>
              <a:rPr lang="en-US" sz="2000"/>
              <a:t>oshua Koilpillai</a:t>
            </a:r>
            <a:br>
              <a:rPr lang="en-US" sz="2000"/>
            </a:br>
            <a:r>
              <a:rPr lang="en-US" sz="2000" b="1"/>
              <a:t>A</a:t>
            </a:r>
            <a:r>
              <a:rPr lang="en-US" sz="2000"/>
              <a:t>ayush Khatanhar</a:t>
            </a:r>
            <a:br>
              <a:rPr lang="en-US" sz="2000"/>
            </a:br>
            <a:r>
              <a:rPr lang="en-US" sz="2000" b="1"/>
              <a:t>S</a:t>
            </a:r>
            <a:r>
              <a:rPr lang="en-US" sz="2000"/>
              <a:t>aharsh Kallu 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5860039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</a:pPr>
            <a:r>
              <a:rPr lang="en-US" sz="4400"/>
              <a:t>Project Objective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8846389" cy="237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endParaRPr sz="18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Nurses/doctors cannot observe every patient 24×7.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This can lead to delayed detection of critical health issues.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We aim to create an edge device with relevant sensors and a multimodal AI dashboard, to detect abnormalities and instantly alert medical staff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endParaRPr sz="1800"/>
          </a:p>
        </p:txBody>
      </p:sp>
      <p:sp>
        <p:nvSpPr>
          <p:cNvPr id="117" name="Google Shape;117;p2"/>
          <p:cNvSpPr/>
          <p:nvPr/>
        </p:nvSpPr>
        <p:spPr>
          <a:xfrm>
            <a:off x="1069848" y="4032436"/>
            <a:ext cx="4261449" cy="15067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AIG Hospitals Hyderabad:</a:t>
            </a:r>
            <a:b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yearly review showed 72 post-surgery patients’ conditions deteriorated due to insufficient monitoring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069847" y="5697990"/>
            <a:ext cx="4261450" cy="529087"/>
          </a:xfrm>
          <a:prstGeom prst="rect">
            <a:avLst/>
          </a:prstGeom>
          <a:solidFill>
            <a:srgbClr val="B91C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 cases resulted in fatalities.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187842" y="4708186"/>
            <a:ext cx="5181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This system can reduce preventable complications and </a:t>
            </a:r>
            <a:r>
              <a:rPr lang="en-US" sz="24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even save lives</a:t>
            </a:r>
            <a:r>
              <a:rPr lang="en-US" sz="24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2"/>
          <p:cNvCxnSpPr/>
          <p:nvPr/>
        </p:nvCxnSpPr>
        <p:spPr>
          <a:xfrm rot="10800000" flipH="1">
            <a:off x="5423139" y="5210355"/>
            <a:ext cx="672861" cy="4064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9330674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</a:pPr>
            <a:r>
              <a:rPr lang="en-US" sz="4400"/>
              <a:t>Broad Project Overview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747873" y="1999862"/>
            <a:ext cx="2438461" cy="991406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ECG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4441374" y="2009194"/>
            <a:ext cx="2438461" cy="991405"/>
          </a:xfrm>
          <a:prstGeom prst="ellipse">
            <a:avLst/>
          </a:prstGeom>
          <a:solidFill>
            <a:srgbClr val="282424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ESP32-CAM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3352799" y="3449965"/>
            <a:ext cx="1940768" cy="814873"/>
          </a:xfrm>
          <a:prstGeom prst="flowChartMagneticDisk">
            <a:avLst/>
          </a:prstGeom>
          <a:solidFill>
            <a:schemeClr val="accen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DB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7682349" y="5916355"/>
            <a:ext cx="1343511" cy="659363"/>
          </a:xfrm>
          <a:prstGeom prst="flowChartMagneticDisk">
            <a:avLst/>
          </a:prstGeom>
          <a:solidFill>
            <a:srgbClr val="0070C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DB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441374" y="4814593"/>
            <a:ext cx="2438461" cy="814873"/>
          </a:xfrm>
          <a:prstGeom prst="rect">
            <a:avLst/>
          </a:prstGeom>
          <a:solidFill>
            <a:srgbClr val="282424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Gesture model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7134875" y="2043406"/>
            <a:ext cx="2438461" cy="991406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accelerometer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7134875" y="4814592"/>
            <a:ext cx="2438461" cy="814873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EHR-based model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1747872" y="4814593"/>
            <a:ext cx="2438461" cy="814873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Arrhythmia model</a:t>
            </a:r>
            <a:endParaRPr/>
          </a:p>
        </p:txBody>
      </p:sp>
      <p:cxnSp>
        <p:nvCxnSpPr>
          <p:cNvPr id="134" name="Google Shape;134;p3"/>
          <p:cNvCxnSpPr/>
          <p:nvPr/>
        </p:nvCxnSpPr>
        <p:spPr>
          <a:xfrm>
            <a:off x="3153716" y="3012233"/>
            <a:ext cx="665614" cy="4167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" name="Google Shape;135;p3"/>
          <p:cNvCxnSpPr/>
          <p:nvPr/>
        </p:nvCxnSpPr>
        <p:spPr>
          <a:xfrm flipH="1">
            <a:off x="3396311" y="4287358"/>
            <a:ext cx="457169" cy="52991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" name="Google Shape;136;p3"/>
          <p:cNvCxnSpPr/>
          <p:nvPr/>
        </p:nvCxnSpPr>
        <p:spPr>
          <a:xfrm>
            <a:off x="4526857" y="4285803"/>
            <a:ext cx="418431" cy="5287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7" name="Google Shape;137;p3"/>
          <p:cNvCxnSpPr/>
          <p:nvPr/>
        </p:nvCxnSpPr>
        <p:spPr>
          <a:xfrm flipH="1">
            <a:off x="4642058" y="3034812"/>
            <a:ext cx="651509" cy="3729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" name="Google Shape;138;p3"/>
          <p:cNvCxnSpPr>
            <a:stCxn id="132" idx="2"/>
            <a:endCxn id="129" idx="1"/>
          </p:cNvCxnSpPr>
          <p:nvPr/>
        </p:nvCxnSpPr>
        <p:spPr>
          <a:xfrm>
            <a:off x="8354106" y="5629465"/>
            <a:ext cx="0" cy="28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9" name="Google Shape;139;p3"/>
          <p:cNvSpPr/>
          <p:nvPr/>
        </p:nvSpPr>
        <p:spPr>
          <a:xfrm>
            <a:off x="7575046" y="3407749"/>
            <a:ext cx="1558116" cy="655939"/>
          </a:xfrm>
          <a:prstGeom prst="flowChartTerminator">
            <a:avLst/>
          </a:prstGeom>
          <a:solidFill>
            <a:srgbClr val="00B0F0"/>
          </a:solidFill>
          <a:ln w="12700" cap="flat" cmpd="sng">
            <a:solidFill>
              <a:srgbClr val="42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Fall detection</a:t>
            </a:r>
            <a:endParaRPr/>
          </a:p>
        </p:txBody>
      </p:sp>
      <p:cxnSp>
        <p:nvCxnSpPr>
          <p:cNvPr id="140" name="Google Shape;140;p3"/>
          <p:cNvCxnSpPr>
            <a:stCxn id="131" idx="4"/>
            <a:endCxn id="139" idx="0"/>
          </p:cNvCxnSpPr>
          <p:nvPr/>
        </p:nvCxnSpPr>
        <p:spPr>
          <a:xfrm>
            <a:off x="8354106" y="3034812"/>
            <a:ext cx="0" cy="37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1" name="Google Shape;141;p3"/>
          <p:cNvSpPr txBox="1"/>
          <p:nvPr/>
        </p:nvSpPr>
        <p:spPr>
          <a:xfrm>
            <a:off x="311020" y="2295331"/>
            <a:ext cx="1287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Sensors: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211496" y="5001208"/>
            <a:ext cx="13871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models: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34B7-CD6F-5009-CF21-D5045323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Diagram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E7FAC05-784D-01AC-2DAD-8FA96C2E0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762000"/>
            <a:ext cx="28194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9BD46D-23DE-D009-9DAE-E13563B75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14" y="1793335"/>
            <a:ext cx="7218589" cy="476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43545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/>
              <a:t>Project DB </a:t>
            </a:r>
            <a:endParaRPr/>
          </a:p>
        </p:txBody>
      </p:sp>
      <p:sp>
        <p:nvSpPr>
          <p:cNvPr id="148" name="Google Shape;148;p4"/>
          <p:cNvSpPr txBox="1">
            <a:spLocks noGrp="1"/>
          </p:cNvSpPr>
          <p:nvPr>
            <p:ph type="body" idx="1"/>
          </p:nvPr>
        </p:nvSpPr>
        <p:spPr>
          <a:xfrm>
            <a:off x="1069848" y="2768082"/>
            <a:ext cx="10058400" cy="3605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MQTT Server: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	</a:t>
            </a:r>
            <a:r>
              <a:rPr lang="en-US"/>
              <a:t>We use an mqtt server to collect and publish data from our sensors running on Arduino code. The data is published to a single topic in a format similar to JSON.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Telegraf (</a:t>
            </a:r>
            <a:r>
              <a:rPr lang="en-US"/>
              <a:t>Subscriber Node</a:t>
            </a:r>
            <a:r>
              <a:rPr lang="en-US" b="1"/>
              <a:t>):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	</a:t>
            </a:r>
            <a:r>
              <a:rPr lang="en-US"/>
              <a:t>Telegraf is a subscriber application that collects the data from our mqtt server by subscribing to the topic given to it, formats it, and writes the data into our InfluxDB database.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InfluxDB: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/>
              <a:t>	InfluxDB is our database for storing data in an easily processible and viewable manner, and makes the data available to our dashboard and training/processing for our AI models.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125957" y="2093976"/>
            <a:ext cx="99961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 → MQTT Publish → Broker → Subscriber Node → InfluxDB → Dashboard + AI Model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/>
              <a:t>AD8232 ECG</a:t>
            </a:r>
            <a:endParaRPr/>
          </a:p>
        </p:txBody>
      </p:sp>
      <p:sp>
        <p:nvSpPr>
          <p:cNvPr id="155" name="Google Shape;155;p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7545417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Purpose: </a:t>
            </a:r>
            <a:br>
              <a:rPr lang="en-US"/>
            </a:br>
            <a:r>
              <a:rPr lang="en-US" sz="1800"/>
              <a:t>Measures electrical activity of the heart to heart-rhythm analysis and detect arrhythmias.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Advantages: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Enables heart rate calculation for further inferences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Low-power, compact, wearable-friendly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Easy to interface with ESP32-based system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Working/Output: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Works by capturing voltage differences using 3 electrodes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Requires stickers for accurate data collection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Outputs a clean analogue ECG waveform (RAW values)</a:t>
            </a:r>
            <a:endParaRPr/>
          </a:p>
          <a:p>
            <a:pPr marL="457200" lvl="1" indent="-85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endParaRPr/>
          </a:p>
        </p:txBody>
      </p:sp>
      <p:pic>
        <p:nvPicPr>
          <p:cNvPr id="156" name="Google Shape;156;p5" descr="ECG Sensor - Single Lead Heart Rate Monitor - AD8232 : Amazon.in: Health &amp;  Personal Care"/>
          <p:cNvPicPr preferRelativeResize="0"/>
          <p:nvPr/>
        </p:nvPicPr>
        <p:blipFill rotWithShape="1">
          <a:blip r:embed="rId3">
            <a:alphaModFix/>
          </a:blip>
          <a:srcRect l="5217" r="3186"/>
          <a:stretch/>
        </p:blipFill>
        <p:spPr>
          <a:xfrm>
            <a:off x="8926286" y="2093976"/>
            <a:ext cx="2948473" cy="33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/>
              <a:t>Arrhythmia model: ECG</a:t>
            </a: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101055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model is a 3D-CNN with conv1D layers(32-&gt;64-&gt;128)filters with batch normalization and dropout. </a:t>
            </a:r>
            <a:endParaRPr/>
          </a:p>
          <a:p>
            <a:pPr marL="182880" lvl="0" indent="-17208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Total of 140k+ parameters.</a:t>
            </a:r>
            <a:endParaRPr/>
          </a:p>
          <a:p>
            <a:pPr marL="182880" lvl="0" indent="-17208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The model takes in sensor data from our medical bracelet and uses it to predict with ~90% accuracy whether or not a patient has arrhythmia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Training: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Class-balanced weighting for imbalance data and early stopping if validation AUC does not improves for consecutively 3 epochs.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70/15/15 train/val/test split.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The model was trained on data collected from online samples plus a mix of our own data.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At epoch 1 we had ~70% val_auc and by the final epoch we had ~90%val_auc and the testing data gave auc of 93%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86548564f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5" y="836200"/>
            <a:ext cx="5240824" cy="465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86548564f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5175" y="987450"/>
            <a:ext cx="5459825" cy="442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86548564fb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75" y="1172350"/>
            <a:ext cx="5592775" cy="474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86548564fb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4475" y="1505000"/>
            <a:ext cx="4942049" cy="38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/>
              <a:t>ESP32 CAM</a:t>
            </a:r>
            <a:endParaRPr/>
          </a:p>
        </p:txBody>
      </p:sp>
      <p:sp>
        <p:nvSpPr>
          <p:cNvPr id="182" name="Google Shape;182;p7"/>
          <p:cNvSpPr txBox="1">
            <a:spLocks noGrp="1"/>
          </p:cNvSpPr>
          <p:nvPr>
            <p:ph type="body" idx="1"/>
          </p:nvPr>
        </p:nvSpPr>
        <p:spPr>
          <a:xfrm>
            <a:off x="1069848" y="2121407"/>
            <a:ext cx="7825336" cy="4298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Purpose:</a:t>
            </a:r>
            <a:br>
              <a:rPr lang="en-US"/>
            </a:br>
            <a:r>
              <a:rPr lang="en-US" sz="1800"/>
              <a:t>Captures real-time images/video frames to classify patient hand gestures for communication and assistance signaling.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Advantages:  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Built-in camera + Wi-Fi for edge inference and remote visibility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Low-cost, compact, and easily mountable near patient bed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b="1"/>
              <a:t>Working/Output: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Continuously captures image frames and sends them for gesture classification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Can detect hand gestures (e.g., help/attention signals) without physical buttons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Outputs gesture class labels or recognition events for monitoring/alerting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183" name="Google Shape;183;p7" descr="How to Use the ESP32 CAM for Beginners ..."/>
          <p:cNvPicPr preferRelativeResize="0"/>
          <p:nvPr/>
        </p:nvPicPr>
        <p:blipFill rotWithShape="1">
          <a:blip r:embed="rId3">
            <a:alphaModFix/>
          </a:blip>
          <a:srcRect l="11396" t="14517" r="10234" b="8277"/>
          <a:stretch/>
        </p:blipFill>
        <p:spPr>
          <a:xfrm>
            <a:off x="8770775" y="2121408"/>
            <a:ext cx="2727374" cy="268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/>
              <a:t>MPU6050 Accelerometer</a:t>
            </a:r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7389907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b="1"/>
              <a:t>Purpose:</a:t>
            </a:r>
            <a:br>
              <a:rPr lang="en-US" b="1"/>
            </a:br>
            <a:r>
              <a:rPr lang="en-US" b="1"/>
              <a:t> </a:t>
            </a:r>
            <a:r>
              <a:rPr lang="en-US"/>
              <a:t>Monitors patient movement, orientation, and acceleration to detect fall events or sudden abnormal posture changes.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b="1"/>
              <a:t>Advantages: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Combines accelerometer + gyroscope in a single chip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High-sampling, low-power motion sensing suited for wearables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Good noise performance and easy integration with ESP32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b="1"/>
              <a:t>Working/Output: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Continuously measures linear acceleration and angular velocity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Detects rapid spikes, impact patterns, or unusual tilt angles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Outputs motion readings which are analyzed to trigger fall alerts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/>
          </a:p>
        </p:txBody>
      </p:sp>
      <p:pic>
        <p:nvPicPr>
          <p:cNvPr id="196" name="Google Shape;196;p9" descr="MPU6050 3-Axis Acceleration Gyroscope 6DOF Module | Makerfabs"/>
          <p:cNvPicPr preferRelativeResize="0"/>
          <p:nvPr/>
        </p:nvPicPr>
        <p:blipFill rotWithShape="1">
          <a:blip r:embed="rId3">
            <a:alphaModFix/>
          </a:blip>
          <a:srcRect l="39387" t="26213" r="33877" b="26712"/>
          <a:stretch/>
        </p:blipFill>
        <p:spPr>
          <a:xfrm>
            <a:off x="8808097" y="2121408"/>
            <a:ext cx="2237181" cy="2954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/>
              <a:t>EHR-based AI</a:t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1069847" y="1752601"/>
            <a:ext cx="10058399" cy="4931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We built a multi-task neural network that analyzes over 130 patient features (vitals, labs, and history) to predict 51 different conditions across 3 timeframes (6h, 24h, 48h), for a total of </a:t>
            </a:r>
            <a:r>
              <a:rPr lang="en-US" sz="1800" b="1" dirty="0"/>
              <a:t>153 risk scores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Data Source:</a:t>
            </a:r>
            <a:r>
              <a:rPr lang="en-US" sz="1800" dirty="0"/>
              <a:t> We processed </a:t>
            </a:r>
            <a:r>
              <a:rPr lang="en-US" sz="1800" b="1" dirty="0"/>
              <a:t>10 million+</a:t>
            </a:r>
            <a:r>
              <a:rPr lang="en-US" sz="1800" dirty="0"/>
              <a:t> individual records from raw patient files (FHIR JSONs), which included demographics, lab results, medications, and diagnoses.</a:t>
            </a:r>
            <a:endParaRPr lang="en-IN" sz="1800" dirty="0"/>
          </a:p>
          <a:p>
            <a:endParaRPr lang="en-IN" sz="1800" b="1" dirty="0"/>
          </a:p>
          <a:p>
            <a:r>
              <a:rPr lang="en-IN" sz="1800" b="1" dirty="0"/>
              <a:t>Training: 	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Parse &amp; Clean:</a:t>
            </a:r>
            <a:r>
              <a:rPr lang="en-US" sz="1800" dirty="0"/>
              <a:t> We used parallel processing to read millions of raw JSON files, extract the 130+ key features, and save them as clean, efficient Parquet files.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b="1" dirty="0"/>
              <a:t>Engineer Features:</a:t>
            </a:r>
            <a:r>
              <a:rPr lang="en-US" sz="1800" dirty="0"/>
              <a:t> We read the clean data in chunks and engineered new features, such as 3-hour rolling averages, delta_ values (changes over time), and the 153 "risk" labels (e.g., risk_sepsis_6h).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Train the Model:</a:t>
            </a:r>
            <a:r>
              <a:rPr lang="en-US" sz="1800" dirty="0"/>
              <a:t> We fed this final data into our neural network to train it.</a:t>
            </a:r>
          </a:p>
          <a:p>
            <a:pPr lvl="1"/>
            <a:endParaRPr lang="en-US" sz="1800" dirty="0"/>
          </a:p>
          <a:p>
            <a:r>
              <a:rPr lang="en-US" sz="1700" dirty="0"/>
              <a:t>Our model is a </a:t>
            </a:r>
            <a:r>
              <a:rPr lang="en-US" sz="1700" b="1" dirty="0"/>
              <a:t>Multi-Task Network</a:t>
            </a:r>
            <a:r>
              <a:rPr lang="en-US" sz="17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The Shared Body: </a:t>
            </a:r>
            <a:r>
              <a:rPr lang="en-US" sz="1500" dirty="0"/>
              <a:t>This is a set of deep layers (</a:t>
            </a:r>
            <a:r>
              <a:rPr lang="en-US" sz="1200" dirty="0"/>
              <a:t>Dense(64) -&gt; Dense(32)</a:t>
            </a:r>
            <a:r>
              <a:rPr lang="en-US" sz="1500" dirty="0"/>
              <a:t>) that learns the complex, general patterns of "sickness" from all 131 inputs.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The Output Heads: </a:t>
            </a:r>
            <a:r>
              <a:rPr lang="en-US" sz="1500" dirty="0"/>
              <a:t>We have </a:t>
            </a:r>
            <a:r>
              <a:rPr lang="en-US" sz="1500" b="1" dirty="0"/>
              <a:t>153 tiny, separate output layers</a:t>
            </a:r>
            <a:r>
              <a:rPr lang="en-US" sz="1500" dirty="0"/>
              <a:t> (one for each risk). Each head looks at the shared body's analysis and makes a simple "yes/no" decision for its one specific condition.</a:t>
            </a:r>
          </a:p>
          <a:p>
            <a:pPr marL="182880" marR="0" lvl="0" indent="-7492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89C9B"/>
              </a:buClr>
              <a:buSzPts val="1700"/>
              <a:buFont typeface="Noto Sans Symbols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7492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89C9B"/>
              </a:buClr>
              <a:buSzPts val="1700"/>
              <a:buFont typeface="Noto Sans Symbols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BD51-E9B4-3C63-7D97-F2BC3CA2B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16736"/>
            <a:ext cx="10058400" cy="160934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BBFB8-DD6E-4AD1-AE9A-7FC8C049D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BFFDA-B32B-2431-F9BE-193960941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978"/>
            <a:ext cx="12192000" cy="570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89455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>
            <a:spLocks noGrp="1"/>
          </p:cNvSpPr>
          <p:nvPr>
            <p:ph type="title"/>
          </p:nvPr>
        </p:nvSpPr>
        <p:spPr>
          <a:xfrm>
            <a:off x="776549" y="512064"/>
            <a:ext cx="109231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</a:pPr>
            <a:r>
              <a:rPr lang="en-US" sz="4400"/>
              <a:t>Challenges Faced </a:t>
            </a:r>
            <a:endParaRPr/>
          </a:p>
        </p:txBody>
      </p:sp>
      <p:sp>
        <p:nvSpPr>
          <p:cNvPr id="208" name="Google Shape;208;p1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57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Initially, we faced the issue that the AI models were not learning but simply overfitting or making random guesses. We fixed this by balancing class weights and using </a:t>
            </a:r>
            <a:r>
              <a:rPr lang="en-US" dirty="0" err="1"/>
              <a:t>auc</a:t>
            </a:r>
            <a:r>
              <a:rPr lang="en-US" dirty="0"/>
              <a:t> as a metric.</a:t>
            </a:r>
            <a:endParaRPr dirty="0"/>
          </a:p>
          <a:p>
            <a:pPr marL="457200" lvl="0" indent="-3257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Also faced the issue that sensor readings were extremely inconsistent and inaccurate. Fixed by reading sensor documentation and rigorous calibration.</a:t>
            </a:r>
          </a:p>
          <a:p>
            <a:r>
              <a:rPr lang="en-US" dirty="0"/>
              <a:t>The 10M+ row dataset was for the EHR modality was too big to fit in RAM. We fixed this by using a streaming </a:t>
            </a:r>
            <a:r>
              <a:rPr lang="en-US" dirty="0" err="1"/>
              <a:t>data_generator</a:t>
            </a:r>
            <a:r>
              <a:rPr lang="en-US" dirty="0"/>
              <a:t> and </a:t>
            </a:r>
            <a:r>
              <a:rPr lang="en-US" dirty="0" err="1"/>
              <a:t>tf.data.Dataset</a:t>
            </a:r>
            <a:r>
              <a:rPr lang="en-US" dirty="0"/>
              <a:t>. This feeds the model small batches (like BATCH_SIZE=8) directly from the hard drive without ever loading the whole dataset.</a:t>
            </a:r>
          </a:p>
          <a:p>
            <a:pPr marL="457200" lvl="0" indent="-3257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6548564fb_0_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Scope</a:t>
            </a:r>
            <a:endParaRPr/>
          </a:p>
        </p:txBody>
      </p:sp>
      <p:sp>
        <p:nvSpPr>
          <p:cNvPr id="215" name="Google Shape;215;g386548564fb_0_1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Implement a third modality for the AI model which uses a combination of accelerometer data and a gesture recognition system with the data from the ESP-32 cam. This will allow for patient monitoring in hospital wards / rooms</a:t>
            </a: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endParaRPr lang="en-US" dirty="0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Collect more data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Continue to improve AI model to be more accurate and increase the scope to detect more symptoms.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Make the prototype medical bracelet more robust and reliable.</a:t>
            </a: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endParaRPr lang="en-US" dirty="0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Deploy the AI model on a raspberry pie</a:t>
            </a:r>
          </a:p>
          <a:p>
            <a:pPr marL="131445" lvl="0" indent="0" algn="l" rtl="0">
              <a:spcBef>
                <a:spcPts val="1200"/>
              </a:spcBef>
              <a:spcAft>
                <a:spcPts val="0"/>
              </a:spcAft>
              <a:buSzPts val="1530"/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1097</Words>
  <Application>Microsoft Office PowerPoint</Application>
  <PresentationFormat>Widescreen</PresentationFormat>
  <Paragraphs>103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Arial</vt:lpstr>
      <vt:lpstr>Arial Black</vt:lpstr>
      <vt:lpstr>Noto Sans Symbols</vt:lpstr>
      <vt:lpstr>Wood Type</vt:lpstr>
      <vt:lpstr>IoMT: Internet of Medical Things</vt:lpstr>
      <vt:lpstr>Project Objective</vt:lpstr>
      <vt:lpstr>Broad Project Overview</vt:lpstr>
      <vt:lpstr>Circuit Diagram</vt:lpstr>
      <vt:lpstr>Project DB </vt:lpstr>
      <vt:lpstr>AD8232 ECG</vt:lpstr>
      <vt:lpstr>Arrhythmia model: ECG</vt:lpstr>
      <vt:lpstr>PowerPoint Presentation</vt:lpstr>
      <vt:lpstr>PowerPoint Presentation</vt:lpstr>
      <vt:lpstr>ESP32 CAM</vt:lpstr>
      <vt:lpstr>MPU6050 Accelerometer</vt:lpstr>
      <vt:lpstr>EHR-based AI</vt:lpstr>
      <vt:lpstr>PowerPoint Presentation</vt:lpstr>
      <vt:lpstr>Challenges Faced 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Aakarsh Mishra</dc:creator>
  <cp:lastModifiedBy>aayush khatanhar</cp:lastModifiedBy>
  <cp:revision>2</cp:revision>
  <dcterms:created xsi:type="dcterms:W3CDTF">2025-11-15T18:57:56Z</dcterms:created>
  <dcterms:modified xsi:type="dcterms:W3CDTF">2025-11-19T18:05:08Z</dcterms:modified>
</cp:coreProperties>
</file>